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FFFF"/>
    <a:srgbClr val="0DA0AF"/>
    <a:srgbClr val="3399FF"/>
    <a:srgbClr val="00CCFF"/>
    <a:srgbClr val="F361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70B0-4380-4225-A56F-217BE8AAC1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683D-FAD7-4552-87A1-1490002E51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585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70B0-4380-4225-A56F-217BE8AAC1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683D-FAD7-4552-87A1-1490002E51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18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70B0-4380-4225-A56F-217BE8AAC1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683D-FAD7-4552-87A1-1490002E51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7727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70B0-4380-4225-A56F-217BE8AAC1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683D-FAD7-4552-87A1-1490002E51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64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70B0-4380-4225-A56F-217BE8AAC1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683D-FAD7-4552-87A1-1490002E519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633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70B0-4380-4225-A56F-217BE8AAC1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683D-FAD7-4552-87A1-1490002E51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116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70B0-4380-4225-A56F-217BE8AAC1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683D-FAD7-4552-87A1-1490002E51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031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70B0-4380-4225-A56F-217BE8AAC1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683D-FAD7-4552-87A1-1490002E51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647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20970B0-4380-4225-A56F-217BE8AAC1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683D-FAD7-4552-87A1-1490002E51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189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70B0-4380-4225-A56F-217BE8AAC1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683D-FAD7-4552-87A1-1490002E51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85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70B0-4380-4225-A56F-217BE8AAC1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683D-FAD7-4552-87A1-1490002E51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59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20970B0-4380-4225-A56F-217BE8AAC1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A5683D-FAD7-4552-87A1-1490002E51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578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895436-3307-A68B-F92F-B31DE5D64016}"/>
              </a:ext>
            </a:extLst>
          </p:cNvPr>
          <p:cNvSpPr txBox="1"/>
          <p:nvPr/>
        </p:nvSpPr>
        <p:spPr>
          <a:xfrm>
            <a:off x="2851959" y="883917"/>
            <a:ext cx="2320213" cy="110799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Load the models</a:t>
            </a:r>
          </a:p>
          <a:p>
            <a:endParaRPr lang="en-GB" sz="1200" dirty="0"/>
          </a:p>
          <a:p>
            <a:r>
              <a:rPr lang="en-GB" sz="1200" dirty="0"/>
              <a:t>Face detector – faceNet</a:t>
            </a:r>
          </a:p>
          <a:p>
            <a:r>
              <a:rPr lang="en-GB" sz="1200" dirty="0"/>
              <a:t>Mask detector – maskNet</a:t>
            </a:r>
          </a:p>
          <a:p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E67DB-788B-3C75-18D2-BBFD48D712D5}"/>
              </a:ext>
            </a:extLst>
          </p:cNvPr>
          <p:cNvSpPr txBox="1"/>
          <p:nvPr/>
        </p:nvSpPr>
        <p:spPr>
          <a:xfrm>
            <a:off x="6045441" y="1132746"/>
            <a:ext cx="1887887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Start Webcam </a:t>
            </a:r>
            <a:r>
              <a:rPr lang="en-GB" sz="1200" dirty="0"/>
              <a:t>– videostream</a:t>
            </a:r>
          </a:p>
          <a:p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095EB-B47A-4207-DBC3-9309368594B0}"/>
              </a:ext>
            </a:extLst>
          </p:cNvPr>
          <p:cNvSpPr txBox="1"/>
          <p:nvPr/>
        </p:nvSpPr>
        <p:spPr>
          <a:xfrm>
            <a:off x="8893632" y="910726"/>
            <a:ext cx="2450841" cy="8771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Capture frames</a:t>
            </a:r>
          </a:p>
          <a:p>
            <a:r>
              <a:rPr lang="en-GB" sz="1100" dirty="0"/>
              <a:t>Input – videostream</a:t>
            </a:r>
          </a:p>
          <a:p>
            <a:r>
              <a:rPr lang="en-GB" sz="1100" dirty="0"/>
              <a:t>Output – Image Frame</a:t>
            </a:r>
          </a:p>
          <a:p>
            <a:endParaRPr lang="en-IN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1DD3C4-3307-FC0D-AB47-2D7417AE91C8}"/>
              </a:ext>
            </a:extLst>
          </p:cNvPr>
          <p:cNvSpPr txBox="1"/>
          <p:nvPr/>
        </p:nvSpPr>
        <p:spPr>
          <a:xfrm>
            <a:off x="353717" y="2355526"/>
            <a:ext cx="9857003" cy="2585323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Detect faces (function: Detect and predict mask)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09060D-27AA-100B-3119-2C31F2D9EADA}"/>
              </a:ext>
            </a:extLst>
          </p:cNvPr>
          <p:cNvSpPr txBox="1"/>
          <p:nvPr/>
        </p:nvSpPr>
        <p:spPr>
          <a:xfrm>
            <a:off x="10733099" y="2761458"/>
            <a:ext cx="1222747" cy="17235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r>
              <a:rPr lang="en-GB" sz="1100" dirty="0"/>
              <a:t>Returns (</a:t>
            </a:r>
            <a:r>
              <a:rPr lang="en-GB" sz="1100" dirty="0" err="1"/>
              <a:t>loc,preds</a:t>
            </a:r>
            <a:r>
              <a:rPr lang="en-GB" sz="1100" dirty="0"/>
              <a:t>)</a:t>
            </a:r>
          </a:p>
          <a:p>
            <a:endParaRPr lang="en-GB" sz="1100" dirty="0"/>
          </a:p>
          <a:p>
            <a:r>
              <a:rPr lang="en-GB" sz="1100" dirty="0"/>
              <a:t>Face locations and Predictions</a:t>
            </a:r>
          </a:p>
          <a:p>
            <a:endParaRPr lang="en-GB" sz="1100" dirty="0"/>
          </a:p>
          <a:p>
            <a:endParaRPr lang="en-GB" sz="1100" dirty="0"/>
          </a:p>
          <a:p>
            <a:endParaRPr lang="en-IN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E2B0D7-E542-8CD7-5129-0439B9E4F2EC}"/>
              </a:ext>
            </a:extLst>
          </p:cNvPr>
          <p:cNvSpPr txBox="1"/>
          <p:nvPr/>
        </p:nvSpPr>
        <p:spPr>
          <a:xfrm>
            <a:off x="6428792" y="5245812"/>
            <a:ext cx="1838131" cy="7078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exit</a:t>
            </a:r>
          </a:p>
          <a:p>
            <a:endParaRPr lang="en-GB" sz="1100" dirty="0"/>
          </a:p>
          <a:p>
            <a:r>
              <a:rPr lang="en-GB" sz="1100" dirty="0"/>
              <a:t>Check if q is pressed</a:t>
            </a:r>
            <a:endParaRPr lang="en-IN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4AF654-42FE-FAF3-DAA1-6C7557B4D9DE}"/>
              </a:ext>
            </a:extLst>
          </p:cNvPr>
          <p:cNvSpPr txBox="1"/>
          <p:nvPr/>
        </p:nvSpPr>
        <p:spPr>
          <a:xfrm>
            <a:off x="6428793" y="6187450"/>
            <a:ext cx="183813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program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E782FB-7642-D74B-5ACB-F945235FAFF6}"/>
              </a:ext>
            </a:extLst>
          </p:cNvPr>
          <p:cNvSpPr txBox="1"/>
          <p:nvPr/>
        </p:nvSpPr>
        <p:spPr>
          <a:xfrm>
            <a:off x="460509" y="3301585"/>
            <a:ext cx="1584034" cy="938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dirty="0"/>
              <a:t>5.1. Preprocess frame</a:t>
            </a:r>
          </a:p>
          <a:p>
            <a:endParaRPr lang="en-GB" sz="1100" dirty="0"/>
          </a:p>
          <a:p>
            <a:r>
              <a:rPr lang="en-GB" sz="1100" dirty="0"/>
              <a:t>Each frame is processes to a blob</a:t>
            </a:r>
            <a:endParaRPr lang="en-IN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AE9B0F-4B44-A5B3-67B4-2702948D171A}"/>
              </a:ext>
            </a:extLst>
          </p:cNvPr>
          <p:cNvSpPr txBox="1"/>
          <p:nvPr/>
        </p:nvSpPr>
        <p:spPr>
          <a:xfrm>
            <a:off x="441231" y="1068583"/>
            <a:ext cx="160331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program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7489E9-0219-6FF2-0F49-755DE1F13F79}"/>
              </a:ext>
            </a:extLst>
          </p:cNvPr>
          <p:cNvSpPr txBox="1"/>
          <p:nvPr/>
        </p:nvSpPr>
        <p:spPr>
          <a:xfrm>
            <a:off x="2376533" y="3263524"/>
            <a:ext cx="1603311" cy="110799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dirty="0"/>
              <a:t>5.2. Give to faceNet</a:t>
            </a:r>
          </a:p>
          <a:p>
            <a:endParaRPr lang="en-GB" sz="1100" dirty="0"/>
          </a:p>
          <a:p>
            <a:r>
              <a:rPr lang="en-GB" sz="1100" dirty="0"/>
              <a:t>FaceNet model is loaded and</a:t>
            </a:r>
          </a:p>
          <a:p>
            <a:r>
              <a:rPr lang="en-GB" sz="1100" dirty="0"/>
              <a:t>Input - blob</a:t>
            </a:r>
          </a:p>
          <a:p>
            <a:endParaRPr lang="en-IN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36067A-E006-FD72-4AA1-8CD748145414}"/>
              </a:ext>
            </a:extLst>
          </p:cNvPr>
          <p:cNvSpPr txBox="1"/>
          <p:nvPr/>
        </p:nvSpPr>
        <p:spPr>
          <a:xfrm>
            <a:off x="4403049" y="3301585"/>
            <a:ext cx="1436911" cy="938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dirty="0"/>
              <a:t>5.3. Detect faces</a:t>
            </a:r>
          </a:p>
          <a:p>
            <a:endParaRPr lang="en-GB" sz="1100" dirty="0"/>
          </a:p>
          <a:p>
            <a:r>
              <a:rPr lang="en-IN" sz="1100" dirty="0"/>
              <a:t>faceNet will process the blob and detect faces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E0FA1B-CA51-774A-D7B1-CF613F4D2812}"/>
              </a:ext>
            </a:extLst>
          </p:cNvPr>
          <p:cNvSpPr txBox="1"/>
          <p:nvPr/>
        </p:nvSpPr>
        <p:spPr>
          <a:xfrm>
            <a:off x="6194879" y="2903548"/>
            <a:ext cx="1794461" cy="1972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dirty="0"/>
              <a:t>5.4. Extract &amp; prepare faces</a:t>
            </a:r>
          </a:p>
          <a:p>
            <a:endParaRPr lang="en-GB" sz="1100" dirty="0"/>
          </a:p>
          <a:p>
            <a:r>
              <a:rPr lang="en-GB" sz="1100" dirty="0"/>
              <a:t>Crop face</a:t>
            </a:r>
          </a:p>
          <a:p>
            <a:r>
              <a:rPr lang="en-GB" sz="1100" dirty="0"/>
              <a:t>Get box for face</a:t>
            </a:r>
          </a:p>
          <a:p>
            <a:r>
              <a:rPr lang="en-GB" sz="1100" dirty="0"/>
              <a:t>Convert BGR to RGB</a:t>
            </a:r>
          </a:p>
          <a:p>
            <a:r>
              <a:rPr lang="en-GB" sz="1100" dirty="0"/>
              <a:t>Resize the img</a:t>
            </a:r>
          </a:p>
          <a:p>
            <a:r>
              <a:rPr lang="en-GB" sz="1100" dirty="0"/>
              <a:t>Convert img to array</a:t>
            </a:r>
          </a:p>
          <a:p>
            <a:endParaRPr lang="en-GB" sz="1100" dirty="0"/>
          </a:p>
          <a:p>
            <a:r>
              <a:rPr lang="en-GB" sz="1100" dirty="0"/>
              <a:t>Output – list of faces</a:t>
            </a:r>
          </a:p>
          <a:p>
            <a:r>
              <a:rPr lang="en-GB" sz="1100" dirty="0"/>
              <a:t>                 faces[ ]</a:t>
            </a:r>
            <a:endParaRPr lang="en-IN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0ADBC0-B223-3C84-399F-6A5309B99CD6}"/>
              </a:ext>
            </a:extLst>
          </p:cNvPr>
          <p:cNvSpPr txBox="1"/>
          <p:nvPr/>
        </p:nvSpPr>
        <p:spPr>
          <a:xfrm>
            <a:off x="8274487" y="3179567"/>
            <a:ext cx="1800807" cy="110799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dirty="0"/>
              <a:t>5.5. Predict mask (MaskNet)</a:t>
            </a:r>
          </a:p>
          <a:p>
            <a:endParaRPr lang="en-GB" sz="1100" dirty="0"/>
          </a:p>
          <a:p>
            <a:r>
              <a:rPr lang="en-GB" sz="1100" dirty="0"/>
              <a:t>Based on probabilities </a:t>
            </a:r>
          </a:p>
          <a:p>
            <a:r>
              <a:rPr lang="en-GB" sz="1100" dirty="0"/>
              <a:t>Output – prediction of mask / nomask</a:t>
            </a:r>
            <a:endParaRPr lang="en-IN" sz="11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58B123D-99CA-B297-CB2E-B085063CB6D9}"/>
              </a:ext>
            </a:extLst>
          </p:cNvPr>
          <p:cNvSpPr/>
          <p:nvPr/>
        </p:nvSpPr>
        <p:spPr>
          <a:xfrm>
            <a:off x="2044542" y="1147385"/>
            <a:ext cx="783202" cy="2151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E8AD68D-40D2-217E-806B-84097FAF5CBD}"/>
              </a:ext>
            </a:extLst>
          </p:cNvPr>
          <p:cNvSpPr/>
          <p:nvPr/>
        </p:nvSpPr>
        <p:spPr>
          <a:xfrm>
            <a:off x="5171176" y="1332827"/>
            <a:ext cx="850261" cy="2044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7435C97-3594-D47E-B199-CA290B245FB1}"/>
              </a:ext>
            </a:extLst>
          </p:cNvPr>
          <p:cNvSpPr/>
          <p:nvPr/>
        </p:nvSpPr>
        <p:spPr>
          <a:xfrm>
            <a:off x="7949714" y="1386642"/>
            <a:ext cx="933710" cy="1804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740C71A-253A-BF01-AE11-65059F53456B}"/>
              </a:ext>
            </a:extLst>
          </p:cNvPr>
          <p:cNvSpPr/>
          <p:nvPr/>
        </p:nvSpPr>
        <p:spPr>
          <a:xfrm>
            <a:off x="2086087" y="3626118"/>
            <a:ext cx="302090" cy="2075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40696282-8DBD-BEA9-C838-00E500738D36}"/>
              </a:ext>
            </a:extLst>
          </p:cNvPr>
          <p:cNvSpPr/>
          <p:nvPr/>
        </p:nvSpPr>
        <p:spPr>
          <a:xfrm>
            <a:off x="3980849" y="3686305"/>
            <a:ext cx="422200" cy="2138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B67717B7-B790-BC24-A75A-A2BAD7F1EB72}"/>
              </a:ext>
            </a:extLst>
          </p:cNvPr>
          <p:cNvSpPr/>
          <p:nvPr/>
        </p:nvSpPr>
        <p:spPr>
          <a:xfrm>
            <a:off x="5898455" y="3708481"/>
            <a:ext cx="312633" cy="1702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1B8BC99-2E80-A63A-06A0-4CE42B22B357}"/>
              </a:ext>
            </a:extLst>
          </p:cNvPr>
          <p:cNvSpPr/>
          <p:nvPr/>
        </p:nvSpPr>
        <p:spPr>
          <a:xfrm>
            <a:off x="7989340" y="3729902"/>
            <a:ext cx="256646" cy="1702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04DB7AAA-36A0-93F4-43FE-25EABC827F35}"/>
              </a:ext>
            </a:extLst>
          </p:cNvPr>
          <p:cNvSpPr/>
          <p:nvPr/>
        </p:nvSpPr>
        <p:spPr>
          <a:xfrm>
            <a:off x="10239220" y="3576511"/>
            <a:ext cx="465378" cy="2195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D8680822-D559-C7DE-3A79-1ECB83D0A580}"/>
              </a:ext>
            </a:extLst>
          </p:cNvPr>
          <p:cNvSpPr/>
          <p:nvPr/>
        </p:nvSpPr>
        <p:spPr>
          <a:xfrm>
            <a:off x="9174890" y="1792131"/>
            <a:ext cx="233265" cy="5633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Arrow: Bent-Up 29">
            <a:extLst>
              <a:ext uri="{FF2B5EF4-FFF2-40B4-BE49-F238E27FC236}">
                <a16:creationId xmlns:a16="http://schemas.microsoft.com/office/drawing/2014/main" id="{002A832C-6152-781B-889A-D22C447C108C}"/>
              </a:ext>
            </a:extLst>
          </p:cNvPr>
          <p:cNvSpPr/>
          <p:nvPr/>
        </p:nvSpPr>
        <p:spPr>
          <a:xfrm rot="16200000">
            <a:off x="10690950" y="1701639"/>
            <a:ext cx="1723550" cy="396087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344C8A4-A20C-80C8-C932-50469608C2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273265" y="4526138"/>
            <a:ext cx="3081415" cy="1107996"/>
          </a:xfrm>
          <a:prstGeom prst="bentConnector3">
            <a:avLst>
              <a:gd name="adj1" fmla="val 9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row: Down 33">
            <a:extLst>
              <a:ext uri="{FF2B5EF4-FFF2-40B4-BE49-F238E27FC236}">
                <a16:creationId xmlns:a16="http://schemas.microsoft.com/office/drawing/2014/main" id="{5F9BF68C-C03E-5D84-80A9-D6C2C2DC1D46}"/>
              </a:ext>
            </a:extLst>
          </p:cNvPr>
          <p:cNvSpPr/>
          <p:nvPr/>
        </p:nvSpPr>
        <p:spPr>
          <a:xfrm>
            <a:off x="7155031" y="5953698"/>
            <a:ext cx="94855" cy="2337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03BA8E-6AF3-8EF7-E572-4DC665D17467}"/>
              </a:ext>
            </a:extLst>
          </p:cNvPr>
          <p:cNvSpPr txBox="1"/>
          <p:nvPr/>
        </p:nvSpPr>
        <p:spPr>
          <a:xfrm>
            <a:off x="1688841" y="251927"/>
            <a:ext cx="8220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 Mask Detection – Project Flow</a:t>
            </a:r>
            <a:endParaRPr lang="en-IN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24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>
            <a:alpha val="1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40333E-8F10-9CEB-0419-C2619D017E71}"/>
              </a:ext>
            </a:extLst>
          </p:cNvPr>
          <p:cNvSpPr txBox="1"/>
          <p:nvPr/>
        </p:nvSpPr>
        <p:spPr>
          <a:xfrm>
            <a:off x="2588069" y="4915004"/>
            <a:ext cx="2277058" cy="176971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Train Model (Train head)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augmented data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Epochs – 20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size – 32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on test set</a:t>
            </a:r>
          </a:p>
          <a:p>
            <a:r>
              <a:rPr lang="en-GB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loss, </a:t>
            </a:r>
            <a:r>
              <a:rPr lang="en-GB" sz="1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val_loss,val_acc</a:t>
            </a:r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36202-6F9C-7930-FE33-8DFBDC2E0AE9}"/>
              </a:ext>
            </a:extLst>
          </p:cNvPr>
          <p:cNvSpPr txBox="1"/>
          <p:nvPr/>
        </p:nvSpPr>
        <p:spPr>
          <a:xfrm>
            <a:off x="2603631" y="683095"/>
            <a:ext cx="1841240" cy="1600438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Read &amp; </a:t>
            </a:r>
          </a:p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 images</a:t>
            </a:r>
          </a:p>
          <a:p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image</a:t>
            </a:r>
          </a:p>
          <a:p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to array </a:t>
            </a:r>
          </a:p>
          <a:p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</a:p>
          <a:p>
            <a:r>
              <a:rPr lang="en-GB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image array</a:t>
            </a:r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9F6389-6739-CF8E-D861-EB37B0429AAC}"/>
              </a:ext>
            </a:extLst>
          </p:cNvPr>
          <p:cNvSpPr txBox="1"/>
          <p:nvPr/>
        </p:nvSpPr>
        <p:spPr>
          <a:xfrm>
            <a:off x="4902460" y="683096"/>
            <a:ext cx="2151483" cy="169277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Encode labels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Labels : Mask, No Mask</a:t>
            </a:r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One hot encoding</a:t>
            </a:r>
          </a:p>
          <a:p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GB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Encoded labels </a:t>
            </a:r>
          </a:p>
          <a:p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[1,0] – Mask</a:t>
            </a:r>
          </a:p>
          <a:p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[0,1] – No Mask</a:t>
            </a:r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EA86F2-44E6-2921-BE32-90D125FDCD7B}"/>
              </a:ext>
            </a:extLst>
          </p:cNvPr>
          <p:cNvSpPr txBox="1"/>
          <p:nvPr/>
        </p:nvSpPr>
        <p:spPr>
          <a:xfrm>
            <a:off x="9687517" y="683095"/>
            <a:ext cx="2199681" cy="135421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Augmentation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Rotate,Zoom,Shift,Flip</a:t>
            </a:r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images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r>
              <a:rPr lang="en-GB" sz="1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</a:t>
            </a:r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(Imagedatagenerator)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Generate more training images</a:t>
            </a:r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E3A664-4CCB-E101-5C4A-5B93F4402C02}"/>
              </a:ext>
            </a:extLst>
          </p:cNvPr>
          <p:cNvSpPr txBox="1"/>
          <p:nvPr/>
        </p:nvSpPr>
        <p:spPr>
          <a:xfrm>
            <a:off x="7491704" y="683096"/>
            <a:ext cx="1876231" cy="135421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Split Data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Train and Test Data 80% Train, 20% Test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r>
              <a:rPr lang="en-GB" sz="1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trainX,trainY,testX,testY</a:t>
            </a:r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BD872-26A5-99E7-AE29-30B9241CC283}"/>
              </a:ext>
            </a:extLst>
          </p:cNvPr>
          <p:cNvSpPr txBox="1"/>
          <p:nvPr/>
        </p:nvSpPr>
        <p:spPr>
          <a:xfrm>
            <a:off x="258148" y="2578280"/>
            <a:ext cx="2407294" cy="176971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Load Pretrained model </a:t>
            </a:r>
          </a:p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(MobileNetV2)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Weights=“</a:t>
            </a:r>
            <a:r>
              <a:rPr lang="en-GB" sz="1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GB" sz="1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Include_top</a:t>
            </a:r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False</a:t>
            </a:r>
          </a:p>
          <a:p>
            <a:r>
              <a:rPr lang="en-GB" sz="1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Input_shape</a:t>
            </a:r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(224,224,3)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r>
              <a:rPr lang="en-GB" sz="1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BaseModel</a:t>
            </a:r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(feature extractor)</a:t>
            </a:r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58010F-EE69-284D-94FA-2B09D1D5D15F}"/>
              </a:ext>
            </a:extLst>
          </p:cNvPr>
          <p:cNvSpPr txBox="1"/>
          <p:nvPr/>
        </p:nvSpPr>
        <p:spPr>
          <a:xfrm>
            <a:off x="3099319" y="2655224"/>
            <a:ext cx="2957801" cy="169277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Add custom head (Classifier)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pooling</a:t>
            </a:r>
          </a:p>
          <a:p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Flatten</a:t>
            </a:r>
          </a:p>
          <a:p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Dense(128,reLU)</a:t>
            </a:r>
          </a:p>
          <a:p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Dropout(0.5)</a:t>
            </a:r>
          </a:p>
          <a:p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 (2,Softmax)</a:t>
            </a:r>
          </a:p>
          <a:p>
            <a:r>
              <a:rPr lang="en-GB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r>
              <a:rPr lang="en-IN" sz="1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Headmodel</a:t>
            </a:r>
            <a:r>
              <a:rPr lang="en-IN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(custom layers)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63492-705F-77A0-ECCB-E51DA343400D}"/>
              </a:ext>
            </a:extLst>
          </p:cNvPr>
          <p:cNvSpPr txBox="1"/>
          <p:nvPr/>
        </p:nvSpPr>
        <p:spPr>
          <a:xfrm>
            <a:off x="9795585" y="2701391"/>
            <a:ext cx="2091613" cy="1600438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Freeze Base Model Layers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Freeze all layers in Base model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layers frozen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head trainable</a:t>
            </a:r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F26F5-3A8B-D084-BFE5-BAC84ED2B3F1}"/>
              </a:ext>
            </a:extLst>
          </p:cNvPr>
          <p:cNvSpPr txBox="1"/>
          <p:nvPr/>
        </p:nvSpPr>
        <p:spPr>
          <a:xfrm>
            <a:off x="6377474" y="2701391"/>
            <a:ext cx="2957801" cy="1523494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Combine Base + Head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Model (mobileNetV2)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+                                             FinalModel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CustomHead(Classifier)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(ready to train)</a:t>
            </a:r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3614F6-9B1B-9EC2-F6BE-1F0C00395251}"/>
              </a:ext>
            </a:extLst>
          </p:cNvPr>
          <p:cNvSpPr txBox="1"/>
          <p:nvPr/>
        </p:nvSpPr>
        <p:spPr>
          <a:xfrm>
            <a:off x="258148" y="4915004"/>
            <a:ext cx="1993640" cy="1523494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Compile Model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Adam Optimizer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= </a:t>
            </a:r>
            <a:r>
              <a:rPr lang="en-GB" sz="1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binary_crossentropy</a:t>
            </a:r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 – accuracy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compiled model</a:t>
            </a:r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9B0F02-DA61-6244-BFF1-0A304B02BFFE}"/>
              </a:ext>
            </a:extLst>
          </p:cNvPr>
          <p:cNvSpPr txBox="1"/>
          <p:nvPr/>
        </p:nvSpPr>
        <p:spPr>
          <a:xfrm>
            <a:off x="304802" y="767735"/>
            <a:ext cx="1841240" cy="1184940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dataset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(folder path)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List of image paths &amp; labels</a:t>
            </a:r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375AA9-0B54-5C04-77BA-1B7E86DD8411}"/>
              </a:ext>
            </a:extLst>
          </p:cNvPr>
          <p:cNvSpPr txBox="1"/>
          <p:nvPr/>
        </p:nvSpPr>
        <p:spPr>
          <a:xfrm>
            <a:off x="5254694" y="4915004"/>
            <a:ext cx="2021628" cy="169277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Evaluate Model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on test set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classes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accuracy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classification report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report</a:t>
            </a:r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E9662A-C83E-C80A-6FC5-3031E4712F3B}"/>
              </a:ext>
            </a:extLst>
          </p:cNvPr>
          <p:cNvSpPr txBox="1"/>
          <p:nvPr/>
        </p:nvSpPr>
        <p:spPr>
          <a:xfrm>
            <a:off x="2251787" y="132184"/>
            <a:ext cx="7743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 Mask Detector – Training Flow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4D80BF-2436-DD50-7370-05045240FE41}"/>
              </a:ext>
            </a:extLst>
          </p:cNvPr>
          <p:cNvSpPr txBox="1"/>
          <p:nvPr/>
        </p:nvSpPr>
        <p:spPr>
          <a:xfrm>
            <a:off x="7665889" y="5340322"/>
            <a:ext cx="2021628" cy="118494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Save Model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model (.h5 file)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r>
              <a:rPr lang="en-GB" sz="11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Mask_detector.model</a:t>
            </a:r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24BDAA-C5F4-065B-7FEA-3F25F0F2A589}"/>
              </a:ext>
            </a:extLst>
          </p:cNvPr>
          <p:cNvSpPr txBox="1"/>
          <p:nvPr/>
        </p:nvSpPr>
        <p:spPr>
          <a:xfrm>
            <a:off x="9995425" y="5386489"/>
            <a:ext cx="1891773" cy="109260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 Plot Training Graph</a:t>
            </a:r>
          </a:p>
          <a:p>
            <a:endParaRPr lang="en-GB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 Training Loss and Accuracy graph.</a:t>
            </a:r>
            <a:endParaRPr lang="en-IN" sz="11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36E955B0-740A-C703-5C6D-12A41534040B}"/>
              </a:ext>
            </a:extLst>
          </p:cNvPr>
          <p:cNvSpPr/>
          <p:nvPr/>
        </p:nvSpPr>
        <p:spPr>
          <a:xfrm>
            <a:off x="8118410" y="3220209"/>
            <a:ext cx="311409" cy="417581"/>
          </a:xfrm>
          <a:prstGeom prst="rightBrace">
            <a:avLst/>
          </a:prstGeom>
          <a:ln>
            <a:solidFill>
              <a:srgbClr val="F36139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2060"/>
              </a:solidFill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746F9146-D188-4CBA-73CF-A4A3F1EEC399}"/>
              </a:ext>
            </a:extLst>
          </p:cNvPr>
          <p:cNvSpPr/>
          <p:nvPr/>
        </p:nvSpPr>
        <p:spPr>
          <a:xfrm>
            <a:off x="2146042" y="1259633"/>
            <a:ext cx="437761" cy="16795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2060"/>
              </a:solidFill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304B94A1-3239-DC21-10DC-8B68A2FE218D}"/>
              </a:ext>
            </a:extLst>
          </p:cNvPr>
          <p:cNvSpPr/>
          <p:nvPr/>
        </p:nvSpPr>
        <p:spPr>
          <a:xfrm>
            <a:off x="4454785" y="1276227"/>
            <a:ext cx="437761" cy="16795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2060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ED5D358-8DD5-444D-AA3F-56B7265AE193}"/>
              </a:ext>
            </a:extLst>
          </p:cNvPr>
          <p:cNvSpPr/>
          <p:nvPr/>
        </p:nvSpPr>
        <p:spPr>
          <a:xfrm>
            <a:off x="7057441" y="1259632"/>
            <a:ext cx="437761" cy="16795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2060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465FC64-B209-8C3F-5A78-AABE9A37BC1F}"/>
              </a:ext>
            </a:extLst>
          </p:cNvPr>
          <p:cNvSpPr/>
          <p:nvPr/>
        </p:nvSpPr>
        <p:spPr>
          <a:xfrm>
            <a:off x="9357048" y="1259631"/>
            <a:ext cx="330470" cy="16795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2060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76AE8AC7-10C7-29F4-51B8-1C0E55D634C1}"/>
              </a:ext>
            </a:extLst>
          </p:cNvPr>
          <p:cNvSpPr/>
          <p:nvPr/>
        </p:nvSpPr>
        <p:spPr>
          <a:xfrm>
            <a:off x="2680408" y="3333658"/>
            <a:ext cx="418911" cy="16092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2060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DAFC1EB9-9FDC-85B7-D2D6-8230CD6A08D6}"/>
              </a:ext>
            </a:extLst>
          </p:cNvPr>
          <p:cNvSpPr/>
          <p:nvPr/>
        </p:nvSpPr>
        <p:spPr>
          <a:xfrm>
            <a:off x="6048181" y="3345024"/>
            <a:ext cx="329294" cy="149556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2060"/>
              </a:solidFill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607A765-E9ED-D232-0FBA-B59274516A0D}"/>
              </a:ext>
            </a:extLst>
          </p:cNvPr>
          <p:cNvSpPr/>
          <p:nvPr/>
        </p:nvSpPr>
        <p:spPr>
          <a:xfrm>
            <a:off x="9367935" y="3345024"/>
            <a:ext cx="437761" cy="16795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2060"/>
              </a:solidFill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5C454B5C-C6EB-0DE2-EBD9-13E3BE0AA15E}"/>
              </a:ext>
            </a:extLst>
          </p:cNvPr>
          <p:cNvSpPr/>
          <p:nvPr/>
        </p:nvSpPr>
        <p:spPr>
          <a:xfrm>
            <a:off x="2252177" y="5631911"/>
            <a:ext cx="307519" cy="1624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2060"/>
              </a:solidFill>
            </a:endParaRP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23CB6BB-3AF0-B5AA-9E3D-98D848B3B050}"/>
              </a:ext>
            </a:extLst>
          </p:cNvPr>
          <p:cNvSpPr/>
          <p:nvPr/>
        </p:nvSpPr>
        <p:spPr>
          <a:xfrm>
            <a:off x="4892547" y="5695412"/>
            <a:ext cx="362147" cy="182874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2060"/>
              </a:solidFill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3C1CC90B-E141-2535-E75C-0CE082AC6953}"/>
              </a:ext>
            </a:extLst>
          </p:cNvPr>
          <p:cNvSpPr/>
          <p:nvPr/>
        </p:nvSpPr>
        <p:spPr>
          <a:xfrm>
            <a:off x="7293056" y="5713111"/>
            <a:ext cx="372834" cy="165175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2060"/>
              </a:solidFill>
            </a:endParaRP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6EAF04F5-7EFD-487B-06E4-7F762AFC14DD}"/>
              </a:ext>
            </a:extLst>
          </p:cNvPr>
          <p:cNvSpPr/>
          <p:nvPr/>
        </p:nvSpPr>
        <p:spPr>
          <a:xfrm>
            <a:off x="9686740" y="5713111"/>
            <a:ext cx="253083" cy="165175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97793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1166</TotalTime>
  <Words>487</Words>
  <Application>Microsoft Office PowerPoint</Application>
  <PresentationFormat>Widescreen</PresentationFormat>
  <Paragraphs>153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Gill Sans MT</vt:lpstr>
      <vt:lpstr>Times New Roman</vt:lpstr>
      <vt:lpstr>Parcel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</cp:revision>
  <dcterms:created xsi:type="dcterms:W3CDTF">2026-05-11T11:52:04Z</dcterms:created>
  <dcterms:modified xsi:type="dcterms:W3CDTF">2026-05-12T07:18:46Z</dcterms:modified>
</cp:coreProperties>
</file>